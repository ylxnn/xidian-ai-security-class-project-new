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71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2" r:id="rId16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论文题目：Parasites in the Toolchain: A Large-Scale Analysis of Attacks on the MCP Ecosystem。论文由上海交通大学、香港科技大学等作者完成，发表于 IEEE S&amp;P 2026。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论文第2节 Figure 1。MCP Host 中模型统一编排多个 MCP server 的工具。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对应原论文 Introduction 第1页右栏末至第2页左栏。参考文献：[23] Invariant Labs, MCP Security Notification: Tool Poisoning Attacks, 2025, blog；[55] Wang et al., MCPTox: A Benchmark for Tool Poisoning Attack on Real-World MCP Servers, arXiv:2508.14925, 2025；[46] Young and Delimarsky, Protecting against indirect prompt injection attacks in MCP, Microsoft Dev Blog, 2025。原论文对单工具/单服务器研究不足的评价是作者自己的概括。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论文第2节 Figure 2。攻击者控制外部内容和接收端；用户正常调用外部读取工具，Agent 受注入影响继续调用读取隐私与发送工具。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论文第1与3节。贡献为形式化 MCP-UPD、分析缺乏上下文与工具隔离及最小权限、构建 MCP-SEC 做实测。注意该工作仍以间接提示词注入作为入口。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我们设计了</a:t>
            </a:r>
            <a:r>
              <a:rPr lang="en-US" altLang="zh-CN"/>
              <a:t>MCP-SEC，</a:t>
            </a:r>
            <a:r>
              <a:rPr lang="zh-CN" altLang="en-US"/>
              <a:t>这是一个可以定量评估整个</a:t>
            </a:r>
            <a:r>
              <a:rPr lang="en-US" altLang="zh-CN"/>
              <a:t>MCP</a:t>
            </a:r>
            <a:r>
              <a:rPr lang="zh-CN" altLang="en-US"/>
              <a:t>生态系统风险的分析框架：</a:t>
            </a:r>
            <a:endParaRPr lang="zh-CN" altLang="en-US"/>
          </a:p>
          <a:p>
            <a:r>
              <a:rPr lang="en-US" altLang="zh-CN"/>
              <a:t>MCP</a:t>
            </a:r>
            <a:r>
              <a:rPr lang="zh-CN" altLang="en-US"/>
              <a:t>服务器是否暴露了可以链接到完整攻击工作流中的工具。</a:t>
            </a:r>
            <a:endParaRPr lang="zh-CN" altLang="en-US"/>
          </a:p>
          <a:p>
            <a:r>
              <a:rPr lang="zh-CN" altLang="en-US"/>
              <a:t>如图3所示，该框架由三个主要组件组成：</a:t>
            </a:r>
            <a:endParaRPr lang="zh-CN" altLang="en-US"/>
          </a:p>
          <a:p>
            <a:r>
              <a:rPr lang="zh-CN" altLang="en-US"/>
              <a:t>描述收集器，用于爬行公共</a:t>
            </a:r>
            <a:r>
              <a:rPr lang="en-US" altLang="zh-CN"/>
              <a:t>MCP</a:t>
            </a:r>
            <a:r>
              <a:rPr lang="zh-CN" altLang="en-US"/>
              <a:t>服务器并从中提取工具的描述；从</a:t>
            </a:r>
            <a:r>
              <a:rPr lang="en-US" altLang="zh-CN"/>
              <a:t>MCP</a:t>
            </a:r>
            <a:r>
              <a:rPr lang="zh-CN" altLang="en-US"/>
              <a:t>平台收集</a:t>
            </a:r>
            <a:r>
              <a:rPr lang="en-US" altLang="zh-CN"/>
              <a:t>Server</a:t>
            </a:r>
            <a:r>
              <a:rPr lang="zh-CN" altLang="en-US">
                <a:ea typeface="宋体" panose="02010600030101010101" pitchFamily="2" charset="-122"/>
              </a:rPr>
              <a:t>，连接</a:t>
            </a:r>
            <a:r>
              <a:rPr lang="en-US" altLang="zh-CN">
                <a:ea typeface="宋体" panose="02010600030101010101" pitchFamily="2" charset="-122"/>
              </a:rPr>
              <a:t>Server</a:t>
            </a:r>
            <a:r>
              <a:rPr lang="zh-CN" altLang="en-US">
                <a:ea typeface="宋体" panose="02010600030101010101" pitchFamily="2" charset="-122"/>
              </a:rPr>
              <a:t>并列出工具，保存每个工具的名称、描述、输入参数格式；最后得到一份工具</a:t>
            </a:r>
            <a:r>
              <a:rPr lang="zh-CN" altLang="en-US">
                <a:ea typeface="宋体" panose="02010600030101010101" pitchFamily="2" charset="-122"/>
              </a:rPr>
              <a:t>信息库；</a:t>
            </a:r>
            <a:endParaRPr lang="zh-CN" altLang="en-US">
              <a:ea typeface="宋体" panose="02010600030101010101" pitchFamily="2" charset="-122"/>
            </a:endParaRPr>
          </a:p>
          <a:p>
            <a:endParaRPr lang="zh-CN" altLang="en-US"/>
          </a:p>
          <a:p>
            <a:r>
              <a:rPr lang="en-US" altLang="zh-CN"/>
              <a:t>MCP</a:t>
            </a:r>
            <a:r>
              <a:rPr lang="zh-CN" altLang="en-US"/>
              <a:t>工具分析器，用于将</a:t>
            </a:r>
            <a:r>
              <a:rPr lang="en-US" altLang="zh-CN"/>
              <a:t>MCP</a:t>
            </a:r>
            <a:r>
              <a:rPr lang="zh-CN" altLang="en-US"/>
              <a:t>工具映射到风险相关功能；根据工具描述和参数，判断能否：读取外部内容、访问隐私、向外发送数据，随后由人工符合判断；最后弄清楚哪些工具有可能用于攻击链的具体某一</a:t>
            </a:r>
            <a:r>
              <a:rPr lang="zh-CN" altLang="en-US"/>
              <a:t>步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动态验证器，在实际</a:t>
            </a:r>
            <a:r>
              <a:rPr lang="en-US" altLang="zh-CN"/>
              <a:t>MCP host </a:t>
            </a:r>
            <a:r>
              <a:rPr lang="zh-CN" altLang="en-US"/>
              <a:t>中调用筛出来的工具，查看调用日志和执行结果，确认他真的可以完成相应的操作。</a:t>
            </a:r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论文第4节及 Table 1。EIT 外部内容读取、PAT 隐私访问、NAT 网络向外发送。数据来自 PulseMCP、MCP Market、Awesome MCP Servers，只覆盖支持 npx / uvx 直接运行的服务。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论文第4、5节与 Table 4。静态工具描述可能不对应真实可执行能力。人工复核给出标注，动态执行后按调用日志检查结果。</a:t>
            </a:r>
            <a:r>
              <a:rPr lang="en-US"/>
              <a:t> 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论文第5节 Figure 4。12,230 个工具中 1,062 个经动态验证，1,360 个 server 中 370 个有至少一种风险相关工具。图示原图，不把类别计数简单相加，因为存在多能力交集。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论文第5.3节。选取10条链，9条来自不同服务，一条为同一服务；Cursor Auto 每条重复10次，验证是否实际向目标接收端发送私密信息。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 Table 7 原始结果。10条链依次 8/10、2/10、7/10、6/10、3/10、4/10、1/10、0/10、2/10、3/10。9条链至少成功一次。原表保留了每条链的服务器与工具。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论文 Table 8 原始结果，三种注入提示（强制、委婉、Base64）各重复5次，5个客户端，7种模型。表中“—”表示该组合未测试，不代表攻击失败。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归纳原汇报第13至15页。第8条链失败的原因是作者对工具功能关联性的分析，不能据此断言模型安全拦截。论文Table 7和Table 8提供工具链及跨模型结果。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32F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矩形 4"/>
          <p:cNvSpPr>
            <a:spLocks noGrp="1"/>
          </p:cNvSpPr>
          <p:nvPr/>
        </p:nvSpPr>
        <p:spPr>
          <a:xfrm>
            <a:off x="733425" y="1495425"/>
            <a:ext cx="1057275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35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525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工具链中的“寄生式”攻击</a:t>
            </a:r>
            <a:endParaRPr sz="3525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762000" y="2352675"/>
            <a:ext cx="10534650" cy="7899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40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40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Parasites in the Toolchain:</a:t>
            </a:r>
            <a:endParaRPr lang="en-US" altLang="zh-CN" sz="2400" b="0">
              <a:solidFill>
                <a:srgbClr val="B8D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240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40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Large-Scale Analysis of Attacks on the MCP Ecosystem</a:t>
            </a:r>
            <a:endParaRPr lang="en-US" altLang="zh-CN" sz="2400" b="0">
              <a:solidFill>
                <a:srgbClr val="B8D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762000" y="5181600"/>
            <a:ext cx="4142740" cy="7524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Shuli Zhao et al.  </a:t>
            </a:r>
            <a:endParaRPr sz="1350" b="0">
              <a:solidFill>
                <a:srgbClr val="B8D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35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 IEEE Symposium on Security and Privacy</a:t>
            </a:r>
            <a:r>
              <a:rPr sz="135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endParaRPr sz="1350" b="0">
              <a:solidFill>
                <a:srgbClr val="B8D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35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B8D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arXiv:2509.06572v5</a:t>
            </a:r>
            <a:endParaRPr sz="1350" b="0">
              <a:solidFill>
                <a:srgbClr val="B8D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01 研究背景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背景：MCP 让 Agent 串联多个工具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505" y="1125220"/>
            <a:ext cx="5038090" cy="535940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456045" y="2060575"/>
            <a:ext cx="4551045" cy="2275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MCP工作流体系结构概述</a:t>
            </a:r>
            <a:endParaRPr lang="zh-CN" altLang="en-US" sz="24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1：初始化MCP主机与服务器之间的连接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2：用户提示词输入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3：LLM决策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4：Tool通过MCP Servers调用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5：LLM组织Tool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6：LLM生成结果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7：返回输出给用户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00190" y="4437380"/>
            <a:ext cx="480123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举例</a:t>
            </a:r>
            <a:endParaRPr lang="en-US" altLang="zh-CN"/>
          </a:p>
          <a:p>
            <a:r>
              <a:rPr lang="en-US" altLang="zh-CN"/>
              <a:t>MCP HOST</a:t>
            </a:r>
            <a:r>
              <a:rPr lang="zh-CN" altLang="en-US">
                <a:ea typeface="宋体" panose="02010600030101010101" pitchFamily="2" charset="-122"/>
              </a:rPr>
              <a:t>：运行</a:t>
            </a:r>
            <a:r>
              <a:rPr lang="en-US" altLang="zh-CN">
                <a:ea typeface="宋体" panose="02010600030101010101" pitchFamily="2" charset="-122"/>
              </a:rPr>
              <a:t>agent</a:t>
            </a:r>
            <a:r>
              <a:rPr lang="zh-CN" altLang="en-US">
                <a:ea typeface="宋体" panose="02010600030101010101" pitchFamily="2" charset="-122"/>
              </a:rPr>
              <a:t>的程序（</a:t>
            </a:r>
            <a:r>
              <a:rPr lang="en-US" altLang="zh-CN">
                <a:ea typeface="宋体" panose="02010600030101010101" pitchFamily="2" charset="-122"/>
              </a:rPr>
              <a:t>agent</a:t>
            </a:r>
            <a:r>
              <a:rPr lang="zh-CN" altLang="en-US">
                <a:ea typeface="宋体" panose="02010600030101010101" pitchFamily="2" charset="-122"/>
              </a:rPr>
              <a:t>或</a:t>
            </a:r>
            <a:r>
              <a:rPr lang="en-US" altLang="zh-CN">
                <a:ea typeface="宋体" panose="02010600030101010101" pitchFamily="2" charset="-122"/>
              </a:rPr>
              <a:t>	      	      </a:t>
            </a:r>
            <a:r>
              <a:rPr lang="zh-CN" altLang="en-US">
                <a:ea typeface="宋体" panose="02010600030101010101" pitchFamily="2" charset="-122"/>
              </a:rPr>
              <a:t>者</a:t>
            </a:r>
            <a:r>
              <a:rPr lang="en-US" altLang="zh-CN">
                <a:ea typeface="宋体" panose="02010600030101010101" pitchFamily="2" charset="-122"/>
              </a:rPr>
              <a:t>vscode/Pycharm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agent</a:t>
            </a:r>
            <a:r>
              <a:rPr lang="zh-CN" altLang="en-US">
                <a:ea typeface="宋体" panose="02010600030101010101" pitchFamily="2" charset="-122"/>
              </a:rPr>
              <a:t>插件）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MCP Client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host</a:t>
            </a:r>
            <a:r>
              <a:rPr lang="zh-CN" altLang="en-US">
                <a:ea typeface="宋体" panose="02010600030101010101" pitchFamily="2" charset="-122"/>
              </a:rPr>
              <a:t>内部的一个</a:t>
            </a:r>
            <a:r>
              <a:rPr lang="zh-CN" altLang="en-US">
                <a:ea typeface="宋体" panose="02010600030101010101" pitchFamily="2" charset="-122"/>
              </a:rPr>
              <a:t>逻辑组件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矩形 10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02 现有技术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现有工作与研究缺口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14375" y="1476375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工具投毒：在 MCP 工具描述中植入指令，影响 Agent 的工具选择或后续行为。</a:t>
            </a:r>
            <a:endParaRPr sz="172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14375" y="1990725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(Invariant Labs, 2025, Blog; Wang et al., 2025, arXiv)</a:t>
            </a:r>
            <a:endParaRPr sz="13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14375" y="2686050"/>
            <a:ext cx="10572750" cy="571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间接注入：网页、文档或邮件中的恶意文本进入模型上下文，诱导额外操作。</a:t>
            </a:r>
            <a:endParaRPr sz="172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14375" y="3200400"/>
            <a:ext cx="10572750" cy="3238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3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(Young &amp; Delimarsky, 2025, Microsoft Dev Blog)</a:t>
            </a:r>
            <a:endParaRPr sz="13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14375" y="4220845"/>
            <a:ext cx="10572750" cy="10953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本文指出的缺口：过去较少系统研究如何</a:t>
            </a:r>
            <a:r>
              <a:rPr sz="172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组合多个正常 MCP 工具</a:t>
            </a: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，完成从读取外部内容到泄露隐私的整条攻击链。</a:t>
            </a:r>
            <a:endParaRPr sz="172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03 核心攻击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r>
              <a:rPr lang="zh-CN" altLang="en-US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的攻击过程：三段式攻击</a:t>
            </a:r>
            <a:r>
              <a:rPr lang="zh-CN" altLang="en-US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链（</a:t>
            </a:r>
            <a:r>
              <a:rPr lang="en-US" altLang="zh-CN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</a:t>
            </a:r>
            <a:r>
              <a:rPr lang="zh-CN" altLang="en-US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未经授权</a:t>
            </a:r>
            <a:r>
              <a:rPr lang="zh-CN" altLang="en-US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隐私泄露）</a:t>
            </a:r>
            <a:endParaRPr lang="zh-CN" altLang="en-US"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456045" y="4653280"/>
            <a:ext cx="4095750" cy="194119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入口：正常读取网页或邮件时，</a:t>
            </a:r>
            <a:endParaRPr sz="1575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恶意内容进入 Agent 上下文</a:t>
            </a:r>
            <a:endParaRPr sz="1575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ym typeface="+mn-ea"/>
              </a:rPr>
              <a:t>② 收集：Agent 按指令调用</a:t>
            </a:r>
            <a:endParaRPr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b="0">
                <a:sym typeface="+mn-ea"/>
              </a:rPr>
              <a:t>读文件等敏感工具</a:t>
            </a:r>
            <a:endParaRPr b="0">
              <a:sym typeface="+mn-ea"/>
            </a:endParaRPr>
          </a:p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③ 泄露：再调用发邮件等工具，</a:t>
            </a:r>
            <a:endParaRPr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>
                <a:sym typeface="+mn-ea"/>
              </a:rPr>
              <a:t>将读到的数据发给攻击者</a:t>
            </a:r>
            <a:endParaRPr sz="1575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240145" y="5868670"/>
            <a:ext cx="40957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240145" y="7173595"/>
            <a:ext cx="4095750" cy="1238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57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5960" y="1150620"/>
            <a:ext cx="5377180" cy="52952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456045" y="1485265"/>
            <a:ext cx="4628515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三阶段寄生工具链</a:t>
            </a:r>
            <a:r>
              <a:rPr lang="zh-CN" altLang="en-US"/>
              <a:t>攻击</a:t>
            </a:r>
            <a:endParaRPr lang="zh-CN" altLang="en-US"/>
          </a:p>
          <a:p>
            <a:r>
              <a:rPr lang="en-US" altLang="zh-CN"/>
              <a:t>1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Parasitic Ingestion</a:t>
            </a:r>
            <a:r>
              <a:rPr lang="zh-CN" altLang="en-US">
                <a:ea typeface="宋体" panose="02010600030101010101" pitchFamily="2" charset="-122"/>
              </a:rPr>
              <a:t>：用户调用外部工具（</a:t>
            </a:r>
            <a:r>
              <a:rPr lang="en-US" altLang="zh-CN">
                <a:ea typeface="宋体" panose="02010600030101010101" pitchFamily="2" charset="-122"/>
              </a:rPr>
              <a:t>get_post</a:t>
            </a:r>
            <a:r>
              <a:rPr lang="zh-CN" altLang="en-US">
                <a:ea typeface="宋体" panose="02010600030101010101" pitchFamily="2" charset="-122"/>
              </a:rPr>
              <a:t>）来检索包含恶意提示的内容（这些内容</a:t>
            </a:r>
            <a:r>
              <a:rPr lang="zh-CN" altLang="en-US">
                <a:ea typeface="宋体" panose="02010600030101010101" pitchFamily="2" charset="-122"/>
              </a:rPr>
              <a:t>含有未经授权的</a:t>
            </a:r>
            <a:r>
              <a:rPr lang="zh-CN" altLang="en-US">
                <a:ea typeface="宋体" panose="02010600030101010101" pitchFamily="2" charset="-122"/>
              </a:rPr>
              <a:t>操作）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Privacy Collection</a:t>
            </a:r>
            <a:r>
              <a:rPr lang="zh-CN" altLang="en-US">
                <a:ea typeface="宋体" panose="02010600030101010101" pitchFamily="2" charset="-122"/>
              </a:rPr>
              <a:t>：受攻击的</a:t>
            </a:r>
            <a:r>
              <a:rPr lang="en-US" altLang="zh-CN">
                <a:ea typeface="宋体" panose="02010600030101010101" pitchFamily="2" charset="-122"/>
              </a:rPr>
              <a:t>agent</a:t>
            </a:r>
            <a:r>
              <a:rPr lang="zh-CN" altLang="en-US">
                <a:ea typeface="宋体" panose="02010600030101010101" pitchFamily="2" charset="-122"/>
              </a:rPr>
              <a:t>遵循指令，使用隐私访问工具（</a:t>
            </a:r>
            <a:r>
              <a:rPr lang="en-US" altLang="zh-CN">
                <a:ea typeface="宋体" panose="02010600030101010101" pitchFamily="2" charset="-122"/>
              </a:rPr>
              <a:t>read_file</a:t>
            </a:r>
            <a:r>
              <a:rPr lang="zh-CN" altLang="en-US">
                <a:ea typeface="宋体" panose="02010600030101010101" pitchFamily="2" charset="-122"/>
              </a:rPr>
              <a:t>）访问铭感的本地文件（</a:t>
            </a:r>
            <a:r>
              <a:rPr lang="en-US" altLang="zh-CN">
                <a:ea typeface="宋体" panose="02010600030101010101" pitchFamily="2" charset="-122"/>
              </a:rPr>
              <a:t>mcp.json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Privacy Disclosure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agent</a:t>
            </a:r>
            <a:r>
              <a:rPr lang="zh-CN" altLang="en-US">
                <a:ea typeface="宋体" panose="02010600030101010101" pitchFamily="2" charset="-122"/>
              </a:rPr>
              <a:t>通过网络访问工具（</a:t>
            </a:r>
            <a:r>
              <a:rPr lang="en-US" altLang="zh-CN">
                <a:ea typeface="宋体" panose="02010600030101010101" pitchFamily="2" charset="-122"/>
              </a:rPr>
              <a:t>send_mail</a:t>
            </a:r>
            <a:r>
              <a:rPr lang="zh-CN" altLang="en-US">
                <a:ea typeface="宋体" panose="02010600030101010101" pitchFamily="2" charset="-122"/>
              </a:rPr>
              <a:t>）将收集的隐私数据</a:t>
            </a:r>
            <a:r>
              <a:rPr lang="zh-CN" altLang="en-US">
                <a:ea typeface="宋体" panose="02010600030101010101" pitchFamily="2" charset="-122"/>
              </a:rPr>
              <a:t>发到攻击者控制端（</a:t>
            </a:r>
            <a:r>
              <a:rPr lang="en-US" altLang="zh-CN">
                <a:ea typeface="宋体" panose="02010600030101010101" pitchFamily="2" charset="-122"/>
              </a:rPr>
              <a:t>diag@attacker.com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" name="矩形 8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04 问题与贡献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难点与主要贡献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33425" y="1495425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攻击构造：单个工具只做一件事，三类工具连起来才能完成泄露</a:t>
            </a:r>
            <a:endParaRPr sz="18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33425" y="255270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问题定义：MCP-UPD 描述外部指令如何逐步接管工具调用</a:t>
            </a:r>
            <a:endParaRPr sz="1800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33425" y="3609975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测量方法：MCP-SEC 分类工具能力，再用真实调用验证</a:t>
            </a:r>
            <a:endParaRPr sz="1800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33425" y="4667250"/>
            <a:ext cx="10668000" cy="990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实验证据：统计生态中的风险组件，并测试真实工具链</a:t>
            </a:r>
            <a:endParaRPr sz="1800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05 方法设计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MCP-SEC：论文的分析框架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452" y="1414780"/>
            <a:ext cx="10623207" cy="4181475"/>
          </a:xfrm>
          <a:prstGeom prst="rect">
            <a:avLst/>
          </a:prstGeom>
        </p:spPr>
      </p:pic>
      <p:sp>
        <p:nvSpPr>
          <p:cNvPr id="6" name="矩形 5"/>
          <p:cNvSpPr>
            <a:spLocks noGrp="1"/>
          </p:cNvSpPr>
          <p:nvPr/>
        </p:nvSpPr>
        <p:spPr>
          <a:xfrm>
            <a:off x="1809750" y="1052830"/>
            <a:ext cx="103822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7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sz="17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收集工具元数据</a:t>
            </a:r>
            <a:r>
              <a:rPr lang="en-US" sz="17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                 2</a:t>
            </a:r>
            <a:r>
              <a:rPr sz="17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识别并人工复核能力</a:t>
            </a:r>
            <a:r>
              <a:rPr lang="en-US" sz="17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        3 </a:t>
            </a:r>
            <a:r>
              <a:rPr sz="1725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实际调用工具验证。</a:t>
            </a:r>
            <a:endParaRPr sz="1725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9600" y="5445125"/>
            <a:ext cx="10090150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如</a:t>
            </a:r>
            <a:r>
              <a:rPr lang="en-US" altLang="zh-CN"/>
              <a:t>read_file:</a:t>
            </a:r>
            <a:endParaRPr lang="en-US" altLang="zh-CN"/>
          </a:p>
          <a:p>
            <a:r>
              <a:rPr lang="en-US" altLang="zh-CN"/>
              <a:t>1</a:t>
            </a:r>
            <a:r>
              <a:rPr lang="zh-CN" altLang="en-US">
                <a:ea typeface="宋体" panose="02010600030101010101" pitchFamily="2" charset="-122"/>
              </a:rPr>
              <a:t>：看到他的</a:t>
            </a:r>
            <a:r>
              <a:rPr lang="zh-CN" altLang="en-US">
                <a:ea typeface="宋体" panose="02010600030101010101" pitchFamily="2" charset="-122"/>
              </a:rPr>
              <a:t>描述是：读取指定文件，记录参数中的</a:t>
            </a:r>
            <a:r>
              <a:rPr lang="zh-CN" altLang="en-US">
                <a:ea typeface="宋体" panose="02010600030101010101" pitchFamily="2" charset="-122"/>
              </a:rPr>
              <a:t>文件路径；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2</a:t>
            </a:r>
            <a:r>
              <a:rPr lang="zh-CN" altLang="en-US">
                <a:ea typeface="宋体" panose="02010600030101010101" pitchFamily="2" charset="-122"/>
              </a:rPr>
              <a:t>：根据描述，将</a:t>
            </a:r>
            <a:r>
              <a:rPr lang="en-US" altLang="zh-CN">
                <a:ea typeface="宋体" panose="02010600030101010101" pitchFamily="2" charset="-122"/>
              </a:rPr>
              <a:t>read_file</a:t>
            </a:r>
            <a:r>
              <a:rPr lang="zh-CN" altLang="en-US">
                <a:ea typeface="宋体" panose="02010600030101010101" pitchFamily="2" charset="-122"/>
              </a:rPr>
              <a:t>归类为隐私访问工具（</a:t>
            </a:r>
            <a:r>
              <a:rPr lang="en-US" altLang="zh-CN">
                <a:ea typeface="宋体" panose="02010600030101010101" pitchFamily="2" charset="-122"/>
              </a:rPr>
              <a:t>PAT</a:t>
            </a:r>
            <a:r>
              <a:rPr lang="zh-CN" altLang="en-US">
                <a:ea typeface="宋体" panose="02010600030101010101" pitchFamily="2" charset="-122"/>
              </a:rPr>
              <a:t>）；并派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个人，</a:t>
            </a:r>
            <a:r>
              <a:rPr lang="zh-CN" altLang="en-US">
                <a:ea typeface="宋体" panose="02010600030101010101" pitchFamily="2" charset="-122"/>
              </a:rPr>
              <a:t>人工查看</a:t>
            </a:r>
            <a:r>
              <a:rPr lang="zh-CN" altLang="en-US">
                <a:ea typeface="宋体" panose="02010600030101010101" pitchFamily="2" charset="-122"/>
              </a:rPr>
              <a:t>审核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：接着，真正调用这个</a:t>
            </a:r>
            <a:r>
              <a:rPr lang="zh-CN" altLang="en-US">
                <a:ea typeface="宋体" panose="02010600030101010101" pitchFamily="2" charset="-122"/>
              </a:rPr>
              <a:t>工具，检查是否读到了测试用的文件内容；读到了才认为真的有这个</a:t>
            </a:r>
            <a:r>
              <a:rPr lang="zh-CN" altLang="en-US">
                <a:ea typeface="宋体" panose="02010600030101010101" pitchFamily="2" charset="-122"/>
              </a:rPr>
              <a:t>能力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06 实验设计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MCP-SEC </a:t>
            </a:r>
            <a:r>
              <a:rPr lang="zh-CN" altLang="en-US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按工具能完成攻击链中哪一步，把相关能力分成三类：</a:t>
            </a:r>
            <a:endParaRPr lang="zh-CN" altLang="en-US"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142875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EIT（</a:t>
            </a:r>
            <a:r>
              <a:rPr lang="zh-CN"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外部内容获取</a:t>
            </a: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）：取回外部文本，使攻击指令有机会进入上下文</a:t>
            </a:r>
            <a:endParaRPr sz="172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2181225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PAT（</a:t>
            </a:r>
            <a:r>
              <a:rPr lang="zh-CN"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隐私访问</a:t>
            </a: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）：读取本地文件或私有数据，取得泄露目标</a:t>
            </a:r>
            <a:endParaRPr sz="172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2933700"/>
            <a:ext cx="1057275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NAT（</a:t>
            </a:r>
            <a:r>
              <a:rPr lang="zh-CN"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向外发送</a:t>
            </a:r>
            <a:r>
              <a:rPr sz="172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）：向外发送任意文本，完成数据传递</a:t>
            </a:r>
            <a:endParaRPr sz="172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392035" y="3789045"/>
            <a:ext cx="4800600" cy="229933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样本范围：</a:t>
            </a:r>
            <a:endParaRPr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1,360 个 Server，12,230 个 Tool；</a:t>
            </a:r>
            <a:endParaRPr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只采集可通过 npx / uvx 直接部署的服务。</a:t>
            </a:r>
            <a:endParaRPr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server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可以提供多个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en-US" altLang="zh-CN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</a:t>
            </a: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也可以具备多种能力，</a:t>
            </a:r>
            <a:endParaRPr lang="zh-CN" altLang="en-US"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800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比如读取本地文件，运行命令向网络发送数据</a:t>
            </a:r>
            <a:endParaRPr lang="zh-CN" altLang="en-US" sz="1800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3860800"/>
            <a:ext cx="7063740" cy="204089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07 方法与质量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静态分类之</a:t>
            </a:r>
            <a:r>
              <a:rPr lang="zh-CN"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后进行</a:t>
            </a: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动态验证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95325" y="1932940"/>
            <a:ext cx="6520180" cy="128460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5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2自动归类，人工审核工具描述和分类结果，</a:t>
            </a:r>
            <a:endParaRPr lang="zh-CN" altLang="en-US" sz="165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5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3测试运行，人工根据真实运行日志查看他实际做到了什么</a:t>
            </a:r>
            <a:endParaRPr lang="zh-CN" altLang="en-US" sz="165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5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b="1">
                <a:sym typeface="+mn-ea"/>
              </a:rPr>
              <a:t>三个人复核模型标注，减少误分类；</a:t>
            </a:r>
            <a:endParaRPr lang="zh-CN" altLang="en-US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b="1">
                <a:sym typeface="+mn-ea"/>
              </a:rPr>
              <a:t>表中给出精确率和召回率，</a:t>
            </a:r>
            <a:endParaRPr lang="zh-CN" altLang="en-US" b="1">
              <a:sym typeface="+mn-ea"/>
            </a:endParaRPr>
          </a:p>
          <a:p>
            <a:pPr algn="l">
              <a:defRPr sz="165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b="1">
                <a:sym typeface="+mn-ea"/>
              </a:rPr>
              <a:t>描述检查</a:t>
            </a:r>
            <a:r>
              <a:rPr lang="en-US" altLang="zh-CN" b="1">
                <a:sym typeface="+mn-ea"/>
              </a:rPr>
              <a:t>MCP-SEC</a:t>
            </a:r>
            <a:r>
              <a:rPr lang="zh-CN" altLang="en-US" b="1">
                <a:sym typeface="+mn-ea"/>
              </a:rPr>
              <a:t>自动判断的能力</a:t>
            </a:r>
            <a:endParaRPr lang="zh-CN" altLang="en-US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65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1225" y="2703830"/>
            <a:ext cx="10668000" cy="6477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sz="1650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912100" y="3995420"/>
            <a:ext cx="4279900" cy="187579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总体：</a:t>
            </a:r>
            <a:endParaRPr lang="zh-CN" altLang="en-US" sz="165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能力分析精确率 85.5%、召回率 98.0%；</a:t>
            </a:r>
            <a:endParaRPr lang="zh-CN" altLang="en-US" sz="165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动态验证精确率 95.1%、召回率 98.8%。</a:t>
            </a:r>
            <a:endParaRPr lang="zh-CN" altLang="en-US" sz="165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Precision</a:t>
            </a:r>
            <a:r>
              <a:rPr lang="zh-CN" altLang="en-US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：系统认为能读隐私，人工审查以后有多少真的</a:t>
            </a:r>
            <a:r>
              <a:rPr lang="zh-CN" altLang="en-US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能读</a:t>
            </a:r>
            <a:endParaRPr lang="zh-CN" altLang="en-US" sz="165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altLang="zh-CN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Recall</a:t>
            </a:r>
            <a:r>
              <a:rPr lang="zh-CN" altLang="en-US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：人工确认真的能读隐私的，系统找出</a:t>
            </a:r>
            <a:r>
              <a:rPr lang="zh-CN" altLang="en-US" sz="165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多少</a:t>
            </a:r>
            <a:endParaRPr lang="zh-CN" altLang="en-US" sz="165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31990" y="116205"/>
            <a:ext cx="4877435" cy="3570605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25" y="3686810"/>
            <a:ext cx="7546975" cy="23577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2875"/>
            <a:ext cx="7279005" cy="4648200"/>
          </a:xfrm>
          <a:prstGeom prst="rect">
            <a:avLst/>
          </a:prstGeom>
        </p:spPr>
      </p:pic>
      <p:sp>
        <p:nvSpPr>
          <p:cNvPr id="9" name="矩形 8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08 生态测量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560451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RQ1 / RQ2：风险能力的实际分布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887845" y="2157095"/>
            <a:ext cx="5120005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12230</a:t>
            </a:r>
            <a:r>
              <a:rPr lang="zh-CN" altLang="en-US"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个工具中，动态验证出：</a:t>
            </a:r>
            <a:endParaRPr lang="zh-CN" altLang="en-US" sz="1575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1,062 个工具（8.7</a:t>
            </a:r>
            <a:r>
              <a:rPr lang="en-US"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sz="1575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%）经验证具有至少一种相关能力</a:t>
            </a:r>
            <a:endParaRPr sz="1575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959600" y="2997200"/>
            <a:ext cx="4903470" cy="62801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1360</a:t>
            </a:r>
            <a:r>
              <a:rPr lang="zh-CN" altLang="en-US"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lang="en-US" altLang="zh-CN"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Server</a:t>
            </a:r>
            <a:r>
              <a:rPr lang="zh-CN" altLang="en-US"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中有</a:t>
            </a:r>
            <a:r>
              <a: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370 个（27.2%）含此类工具；</a:t>
            </a:r>
            <a:endParaRPr sz="157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800215" y="3501390"/>
            <a:ext cx="3265805" cy="11715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 2 个工具、2 个服务各自覆盖</a:t>
            </a:r>
            <a:endParaRPr sz="157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def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三类能力，可独立组成攻击链</a:t>
            </a:r>
            <a:endParaRPr sz="1575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214110" y="777875"/>
            <a:ext cx="58889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攻击链所需的三类能力，在现实 </a:t>
            </a:r>
            <a:r>
              <a:rPr lang="en-US" altLang="zh-CN"/>
              <a:t>MCP </a:t>
            </a:r>
            <a:r>
              <a:rPr lang="zh-CN" altLang="en-US"/>
              <a:t>生态里都能找到；它们有的集中在同一个 </a:t>
            </a:r>
            <a:r>
              <a:rPr lang="en-US" altLang="zh-CN"/>
              <a:t>Server，</a:t>
            </a:r>
            <a:r>
              <a:rPr lang="zh-CN" altLang="en-US"/>
              <a:t>有的需要跨 </a:t>
            </a:r>
            <a:r>
              <a:rPr lang="en-US" altLang="zh-CN"/>
              <a:t>Server </a:t>
            </a:r>
            <a:r>
              <a:rPr lang="zh-CN" altLang="en-US"/>
              <a:t>组合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1775460" y="44450"/>
            <a:ext cx="92633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RQ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Research Question</a:t>
            </a:r>
            <a:r>
              <a:rPr lang="zh-CN" altLang="en-US">
                <a:ea typeface="宋体" panose="02010600030101010101" pitchFamily="2" charset="-122"/>
              </a:rPr>
              <a:t>；</a:t>
            </a:r>
            <a:r>
              <a:rPr lang="en-US" altLang="zh-CN">
                <a:ea typeface="宋体" panose="02010600030101010101" pitchFamily="2" charset="-122"/>
              </a:rPr>
              <a:t>   1</a:t>
            </a:r>
            <a:r>
              <a:rPr lang="zh-CN" altLang="en-US">
                <a:ea typeface="宋体" panose="02010600030101010101" pitchFamily="2" charset="-122"/>
              </a:rPr>
              <a:t>：问</a:t>
            </a:r>
            <a:r>
              <a:rPr lang="en-US" altLang="zh-CN">
                <a:ea typeface="宋体" panose="02010600030101010101" pitchFamily="2" charset="-122"/>
              </a:rPr>
              <a:t>tool</a:t>
            </a:r>
            <a:r>
              <a:rPr lang="zh-CN" altLang="en-US">
                <a:ea typeface="宋体" panose="02010600030101010101" pitchFamily="2" charset="-122"/>
              </a:rPr>
              <a:t>，显示的</a:t>
            </a:r>
            <a:r>
              <a:rPr lang="en-US" altLang="zh-CN">
                <a:ea typeface="宋体" panose="02010600030101010101" pitchFamily="2" charset="-122"/>
              </a:rPr>
              <a:t>MCP</a:t>
            </a:r>
            <a:r>
              <a:rPr lang="zh-CN" altLang="en-US">
                <a:ea typeface="宋体" panose="02010600030101010101" pitchFamily="2" charset="-122"/>
              </a:rPr>
              <a:t>工具多少具备攻击链需要的</a:t>
            </a:r>
            <a:r>
              <a:rPr lang="zh-CN" altLang="en-US">
                <a:ea typeface="宋体" panose="02010600030101010101" pitchFamily="2" charset="-122"/>
              </a:rPr>
              <a:t>能力</a:t>
            </a:r>
            <a:endParaRPr lang="zh-CN" altLang="en-US">
              <a:ea typeface="宋体" panose="02010600030101010101" pitchFamily="2" charset="-122"/>
            </a:endParaRPr>
          </a:p>
          <a:p>
            <a:pPr marL="2286000" lvl="5" indent="457200"/>
            <a:r>
              <a:rPr lang="en-US" altLang="zh-CN">
                <a:ea typeface="宋体" panose="02010600030101010101" pitchFamily="2" charset="-122"/>
              </a:rPr>
              <a:t> 2</a:t>
            </a:r>
            <a:r>
              <a:rPr lang="zh-CN" altLang="en-US">
                <a:ea typeface="宋体" panose="02010600030101010101" pitchFamily="2" charset="-122"/>
              </a:rPr>
              <a:t>：问</a:t>
            </a:r>
            <a:r>
              <a:rPr lang="en-US" altLang="zh-CN">
                <a:ea typeface="宋体" panose="02010600030101010101" pitchFamily="2" charset="-122"/>
              </a:rPr>
              <a:t>server</a:t>
            </a:r>
            <a:r>
              <a:rPr lang="zh-CN" altLang="en-US">
                <a:ea typeface="宋体" panose="02010600030101010101" pitchFamily="2" charset="-122"/>
              </a:rPr>
              <a:t>，这些工具分布在多少个</a:t>
            </a:r>
            <a:r>
              <a:rPr lang="en-US" altLang="zh-CN">
                <a:ea typeface="宋体" panose="02010600030101010101" pitchFamily="2" charset="-122"/>
              </a:rPr>
              <a:t>MCP Server</a:t>
            </a:r>
            <a:r>
              <a:rPr lang="zh-CN" altLang="en-US">
                <a:ea typeface="宋体" panose="02010600030101010101" pitchFamily="2" charset="-122"/>
              </a:rPr>
              <a:t>里面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矩形 9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09 实验设计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端到端实验：如何判断攻击成功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704850" y="148590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构造：每条链各选入口、隐私读取和外发工具，共 10 条链</a:t>
            </a:r>
            <a:endParaRPr sz="18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04850" y="250507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触发：用户正常请求读取外部内容，其中包含恶意指令</a:t>
            </a:r>
            <a:endParaRPr sz="1800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704850" y="3524250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执行：在 Cursor Auto 中重复运行每条链 10 次</a:t>
            </a:r>
            <a:endParaRPr sz="1800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04850" y="4543425"/>
            <a:ext cx="10668000" cy="9525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判据：只有敏感内容实际抵达攻击者接收端才计成功</a:t>
            </a:r>
            <a:endParaRPr sz="1800" b="0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704850" y="5819775"/>
            <a:ext cx="10668000" cy="5143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每条链重复 10 次。“9/10 条链成功”表示其中 9 条至少有一次成功，并非单次成功率 90%。</a:t>
            </a:r>
            <a:endParaRPr sz="16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 实验效果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端到端结果：10 条工具链的原始表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83985"/>
            <a:ext cx="2465070" cy="19304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767715" y="5373370"/>
            <a:ext cx="10763250" cy="57531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6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读表：第 1 链是网页读取 → 文件读取 → 发邮件，成功 8/10 次；第 8 链 0/10，作者认为工具功能衔接较弱。</a:t>
            </a:r>
            <a:endParaRPr sz="16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192020"/>
            <a:ext cx="12182475" cy="235204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775460" y="4580890"/>
            <a:ext cx="8707755" cy="7143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比如第一行，</a:t>
            </a:r>
            <a:r>
              <a:rPr lang="en-US" altLang="zh-CN"/>
              <a:t>ID1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fetch</a:t>
            </a:r>
            <a:r>
              <a:rPr lang="zh-CN" altLang="en-US">
                <a:ea typeface="宋体" panose="02010600030101010101" pitchFamily="2" charset="-122"/>
              </a:rPr>
              <a:t>读网页，</a:t>
            </a:r>
            <a:r>
              <a:rPr lang="en-US" altLang="zh-CN">
                <a:ea typeface="宋体" panose="02010600030101010101" pitchFamily="2" charset="-122"/>
              </a:rPr>
              <a:t>read_file</a:t>
            </a:r>
            <a:r>
              <a:rPr lang="zh-CN" altLang="en-US">
                <a:ea typeface="宋体" panose="02010600030101010101" pitchFamily="2" charset="-122"/>
              </a:rPr>
              <a:t>读隐私，</a:t>
            </a:r>
            <a:r>
              <a:rPr lang="en-US" altLang="zh-CN">
                <a:ea typeface="宋体" panose="02010600030101010101" pitchFamily="2" charset="-122"/>
              </a:rPr>
              <a:t>send_mail</a:t>
            </a:r>
            <a:r>
              <a:rPr lang="zh-CN" altLang="en-US">
                <a:ea typeface="宋体" panose="02010600030101010101" pitchFamily="2" charset="-122"/>
              </a:rPr>
              <a:t>发出去，成功了</a:t>
            </a:r>
            <a:r>
              <a:rPr lang="en-US" altLang="zh-CN">
                <a:ea typeface="宋体" panose="02010600030101010101" pitchFamily="2" charset="-122"/>
              </a:rPr>
              <a:t>8/10</a:t>
            </a:r>
            <a:r>
              <a:rPr lang="zh-CN" altLang="en-US">
                <a:ea typeface="宋体" panose="02010600030101010101" pitchFamily="2" charset="-122"/>
              </a:rPr>
              <a:t>次</a:t>
            </a:r>
            <a:endParaRPr lang="zh-CN" altLang="en-US">
              <a:ea typeface="宋体" panose="02010600030101010101" pitchFamily="2" charset="-122"/>
            </a:endParaRPr>
          </a:p>
          <a:p>
            <a:pPr marL="914400" lvl="2" indent="457200"/>
            <a:r>
              <a:rPr lang="en-US" altLang="zh-CN">
                <a:ea typeface="宋体" panose="02010600030101010101" pitchFamily="2" charset="-122"/>
              </a:rPr>
              <a:t>popular</a:t>
            </a:r>
            <a:r>
              <a:rPr lang="zh-CN" altLang="en-US">
                <a:ea typeface="宋体" panose="02010600030101010101" pitchFamily="2" charset="-122"/>
              </a:rPr>
              <a:t>的</a:t>
            </a:r>
            <a:r>
              <a:rPr lang="en-US" altLang="zh-CN">
                <a:ea typeface="宋体" panose="02010600030101010101" pitchFamily="2" charset="-122"/>
              </a:rPr>
              <a:t>72.5k&amp;23.4m</a:t>
            </a:r>
            <a:r>
              <a:rPr lang="zh-CN" altLang="en-US">
                <a:ea typeface="宋体" panose="02010600030101010101" pitchFamily="2" charset="-122"/>
              </a:rPr>
              <a:t>：代表</a:t>
            </a:r>
            <a:r>
              <a:rPr lang="en-US" altLang="zh-CN">
                <a:ea typeface="宋体" panose="02010600030101010101" pitchFamily="2" charset="-122"/>
              </a:rPr>
              <a:t>7.25</a:t>
            </a:r>
            <a:r>
              <a:rPr lang="zh-CN" altLang="en-US">
                <a:ea typeface="宋体" panose="02010600030101010101" pitchFamily="2" charset="-122"/>
              </a:rPr>
              <a:t>万</a:t>
            </a:r>
            <a:r>
              <a:rPr lang="en-US" altLang="zh-CN">
                <a:ea typeface="宋体" panose="02010600030101010101" pitchFamily="2" charset="-122"/>
              </a:rPr>
              <a:t>Stars</a:t>
            </a:r>
            <a:r>
              <a:rPr lang="zh-CN" altLang="en-US">
                <a:ea typeface="宋体" panose="02010600030101010101" pitchFamily="2" charset="-122"/>
              </a:rPr>
              <a:t>，</a:t>
            </a:r>
            <a:r>
              <a:rPr lang="en-US" altLang="zh-CN">
                <a:ea typeface="宋体" panose="02010600030101010101" pitchFamily="2" charset="-122"/>
              </a:rPr>
              <a:t>2340</a:t>
            </a:r>
            <a:r>
              <a:rPr lang="zh-CN" altLang="en-US">
                <a:ea typeface="宋体" panose="02010600030101010101" pitchFamily="2" charset="-122"/>
              </a:rPr>
              <a:t>万次</a:t>
            </a:r>
            <a:r>
              <a:rPr lang="zh-CN" altLang="en-US">
                <a:ea typeface="宋体" panose="02010600030101010101" pitchFamily="2" charset="-122"/>
              </a:rPr>
              <a:t>下载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96000" y="548640"/>
            <a:ext cx="572833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作者自己组合、部署、测试了十条工具</a:t>
            </a:r>
            <a:r>
              <a:rPr lang="zh-CN" altLang="en-US"/>
              <a:t>链</a:t>
            </a:r>
            <a:endParaRPr lang="zh-CN" altLang="en-US"/>
          </a:p>
          <a:p>
            <a:r>
              <a:rPr lang="zh-CN" altLang="en-US"/>
              <a:t>统一实验环境：</a:t>
            </a:r>
            <a:endParaRPr lang="zh-CN" altLang="en-US"/>
          </a:p>
          <a:p>
            <a:r>
              <a:rPr lang="en-US" altLang="zh-CN"/>
              <a:t>agent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Cursor</a:t>
            </a:r>
            <a:r>
              <a:rPr lang="zh-CN" altLang="en-US">
                <a:ea typeface="宋体" panose="02010600030101010101" pitchFamily="2" charset="-122"/>
              </a:rPr>
              <a:t>；</a:t>
            </a:r>
            <a:r>
              <a:rPr lang="en-US" altLang="zh-CN">
                <a:ea typeface="宋体" panose="02010600030101010101" pitchFamily="2" charset="-122"/>
              </a:rPr>
              <a:t>LLM</a:t>
            </a:r>
            <a:r>
              <a:rPr lang="zh-CN" altLang="en-US">
                <a:ea typeface="宋体" panose="02010600030101010101" pitchFamily="2" charset="-122"/>
              </a:rPr>
              <a:t>：</a:t>
            </a:r>
            <a:r>
              <a:rPr lang="en-US" altLang="zh-CN">
                <a:ea typeface="宋体" panose="02010600030101010101" pitchFamily="2" charset="-122"/>
              </a:rPr>
              <a:t>Cursor Auto</a:t>
            </a:r>
            <a:r>
              <a:rPr lang="zh-CN" altLang="en-US">
                <a:ea typeface="宋体" panose="02010600030101010101" pitchFamily="2" charset="-122"/>
              </a:rPr>
              <a:t>（自动选模型</a:t>
            </a:r>
            <a:r>
              <a:rPr lang="zh-CN" altLang="en-US">
                <a:ea typeface="宋体" panose="02010600030101010101" pitchFamily="2" charset="-122"/>
              </a:rPr>
              <a:t>模式）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矩形 6"/>
          <p:cNvSpPr>
            <a:spLocks noGrp="1"/>
          </p:cNvSpPr>
          <p:nvPr/>
        </p:nvSpPr>
        <p:spPr>
          <a:xfrm>
            <a:off x="609600" y="276225"/>
            <a:ext cx="7620000" cy="238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1">
                <a:solidFill>
                  <a:srgbClr val="1768AE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 实验效果</a:t>
            </a:r>
            <a:endParaRPr sz="1125" b="1">
              <a:solidFill>
                <a:srgbClr val="1768AE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609600" y="666750"/>
            <a:ext cx="10953750" cy="5810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700" b="1">
                <a:solidFill>
                  <a:srgbClr val="132F5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跨客户端 / 模型：效果差异明显</a:t>
            </a:r>
            <a:endParaRPr sz="2700" b="1">
              <a:solidFill>
                <a:srgbClr val="132F56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609600" y="6448425"/>
            <a:ext cx="809625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5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05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45465" y="5840095"/>
            <a:ext cx="11017885" cy="6286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l">
              <a:def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en-US"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x/5</a:t>
            </a:r>
            <a:r>
              <a:rPr lang="zh-CN" altLang="en-US"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：泄露次数</a:t>
            </a:r>
            <a:r>
              <a:rPr lang="en-US" altLang="zh-CN"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五次测试</a:t>
            </a:r>
            <a:r>
              <a: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en-US"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	</a:t>
            </a:r>
            <a:r>
              <a:rPr sz="1500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GPT-5、Claude 4.5 Sonnet 均为 0/5；DeepSeek R1、Gemini 2.5 Flash 多数组合可成功。</a:t>
            </a:r>
            <a:endParaRPr sz="1500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455" y="1268730"/>
            <a:ext cx="8035290" cy="4571365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6744335" y="2055495"/>
            <a:ext cx="1728470" cy="3829685"/>
          </a:xfrm>
          <a:prstGeom prst="rect">
            <a:avLst/>
          </a:prstGeom>
          <a:noFill/>
          <a:ln w="76200">
            <a:solidFill>
              <a:srgbClr val="FF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5088255" y="2055495"/>
            <a:ext cx="1593215" cy="3784600"/>
          </a:xfrm>
          <a:prstGeom prst="rect">
            <a:avLst/>
          </a:prstGeom>
          <a:noFill/>
          <a:ln w="76200">
            <a:solidFill>
              <a:schemeClr val="accent2">
                <a:lumMod val="60000"/>
                <a:lumOff val="4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section"/>
          <p:cNvSpPr>
            <a:spLocks noGrp="1"/>
          </p:cNvSpPr>
          <p:nvPr/>
        </p:nvSpPr>
        <p:spPr>
          <a:xfrm>
            <a:off x="685800" y="285750"/>
            <a:ext cx="304800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275" b="1">
                <a:solidFill>
                  <a:srgbClr val="1173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1">
                <a:solidFill>
                  <a:srgbClr val="1173B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  总结</a:t>
            </a:r>
            <a:endParaRPr sz="1275" b="1">
              <a:solidFill>
                <a:srgbClr val="1173B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title"/>
          <p:cNvSpPr>
            <a:spLocks noGrp="1"/>
          </p:cNvSpPr>
          <p:nvPr/>
        </p:nvSpPr>
        <p:spPr>
          <a:xfrm>
            <a:off x="685800" y="723900"/>
            <a:ext cx="10477500" cy="647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850" b="1">
                <a:solidFill>
                  <a:srgbClr val="15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850" b="1">
                <a:solidFill>
                  <a:srgbClr val="15365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结论、局限与后续方向</a:t>
            </a:r>
            <a:endParaRPr sz="2850" b="1">
              <a:solidFill>
                <a:srgbClr val="15365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core"/>
          <p:cNvSpPr>
            <a:spLocks noGrp="1"/>
          </p:cNvSpPr>
          <p:nvPr/>
        </p:nvSpPr>
        <p:spPr>
          <a:xfrm>
            <a:off x="704850" y="165735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75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75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核心结论</a:t>
            </a:r>
            <a:endParaRPr sz="1725" b="1">
              <a:solidFill>
                <a:srgbClr val="1475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core-text"/>
          <p:cNvSpPr>
            <a:spLocks noGrp="1"/>
          </p:cNvSpPr>
          <p:nvPr/>
        </p:nvSpPr>
        <p:spPr>
          <a:xfrm>
            <a:off x="2667000" y="1657350"/>
            <a:ext cx="8572500" cy="666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首先，间接提示词注入带来的危险不仅是错误回答，还可能诱导 </a:t>
            </a:r>
            <a:r>
              <a:rPr lang="en-US" altLang="zh-CN"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Agent </a:t>
            </a:r>
            <a:r>
              <a:rPr lang="zh-CN" altLang="en-US"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执行与用户任务无关的敏感工具调用。</a:t>
            </a:r>
            <a:endParaRPr lang="zh-CN" altLang="en-US" sz="1725" b="0">
              <a:solidFill>
                <a:srgbClr val="1834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altLang="en-US"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其次，正常 </a:t>
            </a:r>
            <a:r>
              <a:rPr lang="en-US" altLang="zh-CN"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 </a:t>
            </a:r>
            <a:r>
              <a:rPr lang="zh-CN" altLang="en-US"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工具的组合会产生单个工具所不具备的攻击能力。攻击者无需直接修改工具代码，也可能利用跨工具的数据流完成恶意目标。</a:t>
            </a:r>
            <a:endParaRPr lang="zh-CN" altLang="en-US" sz="1725" b="0">
              <a:solidFill>
                <a:srgbClr val="1834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72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endParaRPr lang="zh-CN" altLang="en-US" sz="1725" b="0">
              <a:solidFill>
                <a:srgbClr val="1834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evidence"/>
          <p:cNvSpPr>
            <a:spLocks noGrp="1"/>
          </p:cNvSpPr>
          <p:nvPr/>
        </p:nvSpPr>
        <p:spPr>
          <a:xfrm>
            <a:off x="704850" y="333629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75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75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结果解读</a:t>
            </a:r>
            <a:endParaRPr sz="1725" b="1">
              <a:solidFill>
                <a:srgbClr val="1475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evidence-text"/>
          <p:cNvSpPr>
            <a:spLocks noGrp="1"/>
          </p:cNvSpPr>
          <p:nvPr/>
        </p:nvSpPr>
        <p:spPr>
          <a:xfrm>
            <a:off x="2667000" y="3307715"/>
            <a:ext cx="857250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9/10 条工具链至少成功一次；第 8 链 0/10，作者认为工具间功能关联弱。</a:t>
            </a:r>
            <a:endParaRPr sz="1575" b="0">
              <a:solidFill>
                <a:srgbClr val="1834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换用不同模型时成功率差异明显；</a:t>
            </a:r>
            <a:r>
              <a:rPr lang="zh-CN"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>
                <a:solidFill>
                  <a:srgbClr val="132F56"/>
                </a:solidFill>
                <a:sym typeface="+mn-ea"/>
              </a:rPr>
              <a:t>有的模型拒绝外部指令，有的会继续调用敏感工具</a:t>
            </a:r>
            <a:r>
              <a:rPr lang="zh-CN"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</a:t>
            </a:r>
            <a:endParaRPr sz="1575" b="0">
              <a:solidFill>
                <a:srgbClr val="1834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人工确认也会影响实际泄露。</a:t>
            </a:r>
            <a:endParaRPr sz="1575" b="0">
              <a:solidFill>
                <a:srgbClr val="1834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boundary"/>
          <p:cNvSpPr>
            <a:spLocks noGrp="1"/>
          </p:cNvSpPr>
          <p:nvPr/>
        </p:nvSpPr>
        <p:spPr>
          <a:xfrm>
            <a:off x="704850" y="4803140"/>
            <a:ext cx="2286000" cy="3619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75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725" b="1">
                <a:solidFill>
                  <a:srgbClr val="1475B5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局限与方向</a:t>
            </a:r>
            <a:endParaRPr sz="1725" b="1">
              <a:solidFill>
                <a:srgbClr val="1475B5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boundary-text"/>
          <p:cNvSpPr>
            <a:spLocks noGrp="1"/>
          </p:cNvSpPr>
          <p:nvPr/>
        </p:nvSpPr>
        <p:spPr>
          <a:xfrm>
            <a:off x="2667000" y="4765040"/>
            <a:ext cx="8572500" cy="10287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实验只测试 10 条代表性链，并使用自动执行设置；部分 Server 难以部署。</a:t>
            </a:r>
            <a:endParaRPr sz="1575" b="0">
              <a:solidFill>
                <a:srgbClr val="1834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def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 b="0">
                <a:solidFill>
                  <a:srgbClr val="183457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后续可在 Host 层约束敏感工具调用，并审计跨工具的数据流。</a:t>
            </a:r>
            <a:endParaRPr sz="1575" b="0">
              <a:solidFill>
                <a:srgbClr val="183457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footer"/>
          <p:cNvSpPr>
            <a:spLocks noGrp="1"/>
          </p:cNvSpPr>
          <p:nvPr/>
        </p:nvSpPr>
        <p:spPr>
          <a:xfrm>
            <a:off x="685800" y="6210300"/>
            <a:ext cx="6858000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125" b="0">
                <a:solidFill>
                  <a:srgbClr val="526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26C8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Zhao et al., 2026 · IEEE S&amp;P 2026</a:t>
            </a:r>
            <a:endParaRPr sz="1125" b="0">
              <a:solidFill>
                <a:srgbClr val="526C8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10953750" y="6448425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 algn="r">
              <a:def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en-US" sz="1125" b="0">
                <a:solidFill>
                  <a:srgbClr val="5365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sz="1125" b="0">
              <a:solidFill>
                <a:srgbClr val="5365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3283</Words>
  <Application>WPS 演示</Application>
  <PresentationFormat>Converted Presentation</PresentationFormat>
  <Paragraphs>231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微软雅黑</vt:lpstr>
      <vt:lpstr>Arial Unicode MS</vt:lpstr>
      <vt:lpstr>Aptos</vt:lpstr>
      <vt:lpstr>Segoe UI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东</cp:lastModifiedBy>
  <cp:revision>79</cp:revision>
  <dcterms:created xsi:type="dcterms:W3CDTF">2026-09-27T08:51:00Z</dcterms:created>
  <dcterms:modified xsi:type="dcterms:W3CDTF">2026-10-16T06:35:34Z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CCA39E31450F45CB92F496423A2203B6_12</vt:lpwstr>
  </property>
  <property fmtid="{D5CDD505-2E9C-101B-9397-08002B2CF9AE}" pid="3" name="KSOProductBuildVer">
    <vt:lpwstr>2052-12.1.0.29161</vt:lpwstr>
  </property>
</Properties>
</file>